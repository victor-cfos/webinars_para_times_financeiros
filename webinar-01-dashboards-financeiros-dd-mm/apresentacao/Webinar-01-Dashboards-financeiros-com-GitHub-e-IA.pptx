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1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71" r:id="rId17"/>
    <p:sldId id="259" r:id="rId5"/>
    <p:sldId id="270" r:id="rId16"/>
    <p:sldId id="278" r:id="rId24"/>
    <p:sldId id="268" r:id="rId14"/>
    <p:sldId id="261" r:id="rId7"/>
    <p:sldId id="264" r:id="rId10"/>
    <p:sldId id="258" r:id="rId4"/>
    <p:sldId id="263" r:id="rId9"/>
    <p:sldId id="260" r:id="rId6"/>
    <p:sldId id="276" r:id="rId22"/>
    <p:sldId id="262" r:id="rId8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4" Type="http://schemas.openxmlformats.org/officeDocument/2006/relationships/slide" Target="slides/slide13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22" Type="http://schemas.openxmlformats.org/officeDocument/2006/relationships/slide" Target="slides/slide21.xml"/><Relationship Id="rId24" Type="http://schemas.openxmlformats.org/officeDocument/2006/relationships/slide" Target="slides/slide23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2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CTA: plataforma CFOs.AI (cfos.ai). Sem estatísticas.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PREENCHER: caso do Victor a preencher (ferramenta, processo, resultado, fonte).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Os 7 passos do roteiro em 6 etapas: HTML local e link público no Lovable foram unidos na etapa 06.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Fonte: Hugh Son, 'JPMorgan Software Does in Seconds What Took Lawyers 360,000 Hours', Bloomberg, 28/02/2017 — https://www.bloomberg.com/news/articles/2017-02-28/jpmorgan-marshals-an-army-of-developers-to-automate-high-finance . 360 mil horas/ano de advogados e analistas de crédito; 12 mil novos contratos de crédito comercial por ano; revisão em segundos, com menos erros.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Abrir para perguntas.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Divisor da parte prática: Excel → prompts no Claude → repositório no GitHub → dashboard com link público (Lovable).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Fonte: comunicado do Morgan Stanley, 14/03/2023 — https://www.morganstanley.com/press-releases/key-milestone-in-innovation-journey-with-openai . GPT-4 gera respostas exclusivamente a partir do conteúdo interno do Morgan Stanley Wealth Management, com links para os documentos de origem; 'em segundos' é afirmação do próprio banco.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Abas e perguntas de prompts-graficos.md (repo victor-cfos/webinars_para_times_financeiros, PR #1, commit 62e33a3; pasta webinar-01-dashboards-financeiros-dd-mm). Planilha dashboards-financeiros-cfosai.xlsx com 20 gráficos e dados fictícios. Material disponível após o webinar.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Fontes verificadas: ChatGPT lançado em 30/11/2022 — https://openai.com/index/chatgpt/ ; Claude lançado em 14/03/2023 — https://www.anthropic.com/news/introducing-claude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Sym" Type="http://schemas.openxmlformats.org/officeDocument/2006/relationships/image" Target="../media/cfosai-simbolo-preto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256886"/>
            <a:ext cx="800100" cy="800100"/>
          </a:xfrm>
          <a:prstGeom prst="rect">
            <a:avLst/>
          </a:prstGeom>
          <a:solidFill>
            <a:srgbClr val="474747"/>
          </a:solidFill>
          <a:ln/>
        </p:spPr>
      </p:sp>
      <p:sp>
        <p:nvSpPr>
          <p:cNvPr id="3" name="Shape 1"/>
          <p:cNvSpPr/>
          <p:nvPr/>
        </p:nvSpPr>
        <p:spPr>
          <a:xfrm>
            <a:off x="800100" y="6056986"/>
            <a:ext cx="800100" cy="800100"/>
          </a:xfrm>
          <a:prstGeom prst="rect">
            <a:avLst/>
          </a:prstGeom>
          <a:solidFill>
            <a:srgbClr val="474747"/>
          </a:solidFill>
          <a:ln/>
        </p:spPr>
      </p:sp>
      <p:pic>
        <p:nvPicPr>
          <p:cNvPr id="4" name="Image 0" descr="/workspace/slides/webinar01-Tj4bRV/family/escuro/logo-bran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8059" y="685800"/>
            <a:ext cx="2011680" cy="5585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88059" y="1783080"/>
            <a:ext cx="932688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6000" b="1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Dashboards financeiros</a:t>
            </a:r>
            <a:endParaRPr lang="en-US" sz="6000" dirty="0"/>
          </a:p>
        </p:txBody>
      </p:sp>
      <p:sp>
        <p:nvSpPr>
          <p:cNvPr id="6" name="Shape 3"/>
          <p:cNvSpPr/>
          <p:nvPr/>
        </p:nvSpPr>
        <p:spPr>
          <a:xfrm>
            <a:off x="6543446" y="0"/>
            <a:ext cx="0" cy="685800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492947" y="0"/>
            <a:ext cx="0" cy="685800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441534" y="0"/>
            <a:ext cx="0" cy="685800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88059" y="3017520"/>
            <a:ext cx="6949440" cy="1234440"/>
          </a:xfrm>
          <a:prstGeom prst="rect">
            <a:avLst/>
          </a:prstGeom>
          <a:solidFill>
            <a:srgbClr val="EF4517"/>
          </a:solidFill>
          <a:ln/>
        </p:spPr>
      </p:sp>
      <p:sp>
        <p:nvSpPr>
          <p:cNvPr id="10" name="Text 7"/>
          <p:cNvSpPr/>
          <p:nvPr/>
        </p:nvSpPr>
        <p:spPr>
          <a:xfrm>
            <a:off x="1388059" y="3017520"/>
            <a:ext cx="6949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 GitHub e IA</a:t>
            </a:r>
            <a:endParaRPr lang="en-US" sz="6000" dirty="0"/>
          </a:p>
        </p:txBody>
      </p:sp>
      <p:sp>
        <p:nvSpPr>
          <p:cNvPr id="11" name="Text 8"/>
          <p:cNvSpPr/>
          <p:nvPr/>
        </p:nvSpPr>
        <p:spPr>
          <a:xfrm>
            <a:off x="1388059" y="46177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Victor Prada  ·  Especialista em IA  ·  CFOs.AI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10881360" y="0"/>
            <a:ext cx="660197" cy="660197"/>
          </a:xfrm>
          <a:prstGeom prst="rect">
            <a:avLst/>
          </a:prstGeom>
          <a:solidFill>
            <a:srgbClr val="F77D61"/>
          </a:solidFill>
          <a:ln/>
        </p:spPr>
      </p:sp>
      <p:sp>
        <p:nvSpPr>
          <p:cNvPr id="13" name="Shape 10"/>
          <p:cNvSpPr/>
          <p:nvPr/>
        </p:nvSpPr>
        <p:spPr>
          <a:xfrm>
            <a:off x="11541557" y="0"/>
            <a:ext cx="660197" cy="660197"/>
          </a:xfrm>
          <a:prstGeom prst="rect">
            <a:avLst/>
          </a:prstGeom>
          <a:solidFill>
            <a:srgbClr val="F77D61"/>
          </a:solidFill>
          <a:ln/>
        </p:spPr>
      </p:sp>
      <p:sp>
        <p:nvSpPr>
          <p:cNvPr id="14" name="Shape 11"/>
          <p:cNvSpPr/>
          <p:nvPr/>
        </p:nvSpPr>
        <p:spPr>
          <a:xfrm>
            <a:off x="11541557" y="660197"/>
            <a:ext cx="660197" cy="660197"/>
          </a:xfrm>
          <a:prstGeom prst="rect">
            <a:avLst/>
          </a:prstGeom>
          <a:solidFill>
            <a:srgbClr val="F77D61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28116" y="819302"/>
            <a:ext cx="7634326" cy="157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48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Próximos passos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28116" y="2567635"/>
            <a:ext cx="714695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01. Baixe a planilha e os prompts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28116" y="3115361"/>
            <a:ext cx="714695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02. Repita o passo a passo no seu time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28116" y="3663086"/>
            <a:ext cx="714695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03. Conheça a plataforma CFOs.AI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28116" y="2958084"/>
            <a:ext cx="7415784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8116" y="3504895"/>
            <a:ext cx="7415784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68796" y="4100170"/>
            <a:ext cx="4895698" cy="1004011"/>
          </a:xfrm>
          <a:prstGeom prst="roundRect">
            <a:avLst>
              <a:gd name="adj" fmla="val 195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241300" dist="1905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98741" y="4100170"/>
            <a:ext cx="0" cy="1004011"/>
          </a:xfrm>
          <a:prstGeom prst="line">
            <a:avLst/>
          </a:prstGeom>
          <a:noFill/>
          <a:ln w="9525">
            <a:solidFill>
              <a:srgbClr val="000000">
                <a:alpha val="30000"/>
              </a:srgbClr>
            </a:solidFill>
            <a:prstDash val="solid"/>
          </a:ln>
        </p:spPr>
      </p:sp>
      <p:pic>
        <p:nvPicPr>
          <p:cNvPr id="19" name="Simbolo CFOs.AI" descr="Símbolo CFOs.AI"/>
          <p:cNvPicPr>
            <a:picLocks noChangeAspect="1"/>
          </p:cNvPicPr>
          <p:nvPr/>
        </p:nvPicPr>
        <p:blipFill>
          <a:blip r:embed="rIdSym"/>
          <a:stretch>
            <a:fillRect/>
          </a:stretch>
        </p:blipFill>
        <p:spPr>
          <a:xfrm>
            <a:off x="6538576" y="4350715"/>
            <a:ext cx="590384" cy="502920"/>
          </a:xfrm>
          <a:prstGeom prst="rect">
            <a:avLst/>
          </a:prstGeom>
        </p:spPr>
      </p:pic>
      <p:sp>
        <p:nvSpPr>
          <p:cNvPr id="13" name="Text 11"/>
          <p:cNvSpPr/>
          <p:nvPr/>
        </p:nvSpPr>
        <p:spPr>
          <a:xfrm>
            <a:off x="7464247" y="4218127"/>
            <a:ext cx="1767535" cy="7690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32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cfos.ai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077249" y="4326026"/>
            <a:ext cx="2085746" cy="5522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200" dirty="0">
                <a:solidFill>
                  <a:srgbClr val="4747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Victor Prada · Especialista em IA · CFOs.AI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003182" y="746150"/>
            <a:ext cx="2160727" cy="2160727"/>
          </a:xfrm>
          <a:prstGeom prst="ellipse">
            <a:avLst/>
          </a:prstGeom>
          <a:ln w="6350">
            <a:solidFill>
              <a:srgbClr val="F2F2F2">
                <a:alpha val="12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198864" y="934517"/>
            <a:ext cx="1783080" cy="1783080"/>
          </a:xfrm>
          <a:prstGeom prst="ellipse">
            <a:avLst/>
          </a:prstGeom>
          <a:solidFill>
            <a:srgbClr val="EF4517"/>
          </a:solidFill>
          <a:ln/>
          <a:effectLst>
            <a:outerShdw sx="100000" sy="100000" kx="0" ky="0" algn="bl" rotWithShape="0" blurRad="381000" dist="152400" dir="5400000">
              <a:srgbClr val="EF4517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91549" y="1393546"/>
            <a:ext cx="1798625" cy="7077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2000" dirty="0" b="1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Obrigado!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191549" y="2016252"/>
            <a:ext cx="1798625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pela presença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11035" y="0"/>
            <a:ext cx="1601114" cy="1601114"/>
          </a:xfrm>
          <a:prstGeom prst="rect">
            <a:avLst/>
          </a:prstGeom>
          <a:solidFill>
            <a:srgbClr val="474747"/>
          </a:solidFill>
          <a:ln/>
        </p:spPr>
      </p:sp>
      <p:sp>
        <p:nvSpPr>
          <p:cNvPr id="3" name="Shape 1"/>
          <p:cNvSpPr/>
          <p:nvPr/>
        </p:nvSpPr>
        <p:spPr>
          <a:xfrm>
            <a:off x="8512150" y="1601114"/>
            <a:ext cx="1601114" cy="1601114"/>
          </a:xfrm>
          <a:prstGeom prst="rect">
            <a:avLst/>
          </a:prstGeom>
          <a:solidFill>
            <a:srgbClr val="474747"/>
          </a:solidFill>
          <a:ln/>
        </p:spPr>
      </p:sp>
      <p:sp>
        <p:nvSpPr>
          <p:cNvPr id="4" name="Shape 2"/>
          <p:cNvSpPr/>
          <p:nvPr/>
        </p:nvSpPr>
        <p:spPr>
          <a:xfrm>
            <a:off x="-9144" y="3429000"/>
            <a:ext cx="1714500" cy="1714500"/>
          </a:xfrm>
          <a:prstGeom prst="rect">
            <a:avLst/>
          </a:prstGeom>
          <a:solidFill>
            <a:srgbClr val="EF4517"/>
          </a:solidFill>
          <a:ln/>
        </p:spPr>
      </p:sp>
      <p:sp>
        <p:nvSpPr>
          <p:cNvPr id="5" name="Shape 3"/>
          <p:cNvSpPr/>
          <p:nvPr/>
        </p:nvSpPr>
        <p:spPr>
          <a:xfrm>
            <a:off x="1705356" y="3429000"/>
            <a:ext cx="1714500" cy="1714500"/>
          </a:xfrm>
          <a:prstGeom prst="rect">
            <a:avLst/>
          </a:prstGeom>
          <a:solidFill>
            <a:srgbClr val="EF4517"/>
          </a:solidFill>
          <a:ln/>
        </p:spPr>
      </p:sp>
      <p:sp>
        <p:nvSpPr>
          <p:cNvPr id="6" name="Shape 4"/>
          <p:cNvSpPr/>
          <p:nvPr/>
        </p:nvSpPr>
        <p:spPr>
          <a:xfrm>
            <a:off x="1705356" y="5143500"/>
            <a:ext cx="1714500" cy="1714500"/>
          </a:xfrm>
          <a:prstGeom prst="rect">
            <a:avLst/>
          </a:prstGeom>
          <a:solidFill>
            <a:srgbClr val="EF4517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0" y="952805"/>
            <a:ext cx="1767535" cy="7269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660400" dist="4572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561527" y="993038"/>
            <a:ext cx="1651406" cy="6464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2800" b="1" spc="-150" kern="0" dirty="0">
                <a:solidFill>
                  <a:srgbClr val="EF45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Caso 3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37006" y="416052"/>
            <a:ext cx="6516929" cy="28008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66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Caso do Victor — a preencher</a:t>
            </a:r>
            <a:endParaRPr lang="en-US" sz="8800" dirty="0"/>
          </a:p>
        </p:txBody>
      </p:sp>
      <p:sp>
        <p:nvSpPr>
          <p:cNvPr id="10" name="Text 8"/>
          <p:cNvSpPr/>
          <p:nvPr/>
        </p:nvSpPr>
        <p:spPr>
          <a:xfrm>
            <a:off x="9035186" y="4308653"/>
            <a:ext cx="2473452" cy="14657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preencher: ferramenta, processo, resultado e fonte do caso do Victor.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342693" y="4323283"/>
            <a:ext cx="3153766" cy="7269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660400" dist="4572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9172" y="4502506"/>
            <a:ext cx="2512771" cy="369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18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preencher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041087" y="4537253"/>
            <a:ext cx="300838" cy="300838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41087" y="4687214"/>
            <a:ext cx="21305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00900" y="0"/>
            <a:ext cx="0" cy="685800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50401" y="0"/>
            <a:ext cx="0" cy="685800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98987" y="0"/>
            <a:ext cx="0" cy="6858000"/>
          </a:xfrm>
          <a:prstGeom prst="line">
            <a:avLst/>
          </a:prstGeom>
          <a:noFill/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37376" y="1062533"/>
            <a:ext cx="3660343" cy="3439058"/>
          </a:xfrm>
          <a:prstGeom prst="roundRect">
            <a:avLst>
              <a:gd name="adj" fmla="val 16670"/>
            </a:avLst>
          </a:prstGeom>
          <a:solidFill>
            <a:srgbClr val="EF4517"/>
          </a:solidFill>
          <a:ln w="3175">
            <a:solidFill>
              <a:srgbClr val="474747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37376" y="3453689"/>
            <a:ext cx="3660343" cy="0"/>
          </a:xfrm>
          <a:prstGeom prst="line">
            <a:avLst/>
          </a:prstGeom>
          <a:noFill/>
          <a:ln w="9525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59245" y="1534363"/>
            <a:ext cx="3016606" cy="15069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Regra: </a:t>
            </a: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pagamento acima de R$ 50 mil exige dupla aprovação.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750101" y="3803904"/>
            <a:ext cx="2194560" cy="2770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Sistema especialista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4497" y="410566"/>
            <a:ext cx="3862426" cy="286024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9900" spc="-150" kern="0" dirty="0">
                <a:solidFill>
                  <a:srgbClr val="EDF1F3">
                    <a:alpha val="3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9900" dirty="0"/>
          </a:p>
        </p:txBody>
      </p:sp>
      <p:sp>
        <p:nvSpPr>
          <p:cNvPr id="10" name="Text 8"/>
          <p:cNvSpPr/>
          <p:nvPr/>
        </p:nvSpPr>
        <p:spPr>
          <a:xfrm>
            <a:off x="774497" y="2903220"/>
            <a:ext cx="5206594" cy="17547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Regras e estatística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774497" y="4898441"/>
            <a:ext cx="6835140" cy="701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Primeira onda: sistemas especialistas aplicam regras «se… então» e a estatística clássica projeta a partir do histórico.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502091" y="3188513"/>
            <a:ext cx="2793492" cy="2624328"/>
          </a:xfrm>
          <a:prstGeom prst="roundRect">
            <a:avLst>
              <a:gd name="adj" fmla="val 16670"/>
            </a:avLst>
          </a:prstGeom>
          <a:solidFill>
            <a:srgbClr val="FFFFFF"/>
          </a:solidFill>
          <a:ln w="3175">
            <a:solidFill>
              <a:srgbClr val="474747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2091" y="5051146"/>
            <a:ext cx="2793492" cy="0"/>
          </a:xfrm>
          <a:prstGeom prst="line">
            <a:avLst/>
          </a:prstGeom>
          <a:noFill/>
          <a:ln w="9525">
            <a:solidFill>
              <a:srgbClr val="00000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41664" y="3646627"/>
            <a:ext cx="2314346" cy="108996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47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Previsão: </a:t>
            </a:r>
            <a:r>
              <a:rPr lang="en-US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média móvel e regressão projetam o fluxo de caixa.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741664" y="5298034"/>
            <a:ext cx="1645920" cy="27706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4747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Estatística clássica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081" y="2862072"/>
            <a:ext cx="2513686" cy="14767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4747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72922" y="3024835"/>
            <a:ext cx="23180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3200" spc="-150" kern="0" dirty="0">
                <a:solidFill>
                  <a:srgbClr val="EF45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972922" y="3581705"/>
            <a:ext cx="2318004" cy="587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pt-BR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Abrir a planilha financeira de exemplo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517697" y="2862072"/>
            <a:ext cx="2513686" cy="1476756"/>
          </a:xfrm>
          <a:prstGeom prst="rect">
            <a:avLst/>
          </a:prstGeom>
          <a:solidFill>
            <a:srgbClr val="EF4517"/>
          </a:solidFill>
          <a:ln/>
        </p:spPr>
      </p:sp>
      <p:sp>
        <p:nvSpPr>
          <p:cNvPr id="6" name="Text 4"/>
          <p:cNvSpPr/>
          <p:nvPr/>
        </p:nvSpPr>
        <p:spPr>
          <a:xfrm>
            <a:off x="3615538" y="3024835"/>
            <a:ext cx="23180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32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615538" y="3581705"/>
            <a:ext cx="2318004" cy="587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pt-BR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Criar o repositório com Claude Code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60313" y="2862072"/>
            <a:ext cx="2513686" cy="14767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4747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58154" y="3024835"/>
            <a:ext cx="23180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3200" spc="-150" kern="0" dirty="0">
                <a:solidFill>
                  <a:srgbClr val="EF45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258154" y="3581705"/>
            <a:ext cx="2318004" cy="587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pt-BR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Rodar 1–2 prompts: Colunas e Cascata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803843" y="2862072"/>
            <a:ext cx="2513686" cy="14767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4747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01684" y="3024835"/>
            <a:ext cx="23180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3200" spc="-150" kern="0" dirty="0">
                <a:solidFill>
                  <a:srgbClr val="EF45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901684" y="3581705"/>
            <a:ext cx="2318004" cy="587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pt-BR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README com os prompts usados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75081" y="4460443"/>
            <a:ext cx="2513686" cy="14767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4747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72922" y="4623206"/>
            <a:ext cx="23180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3200" spc="-150" kern="0" dirty="0">
                <a:solidFill>
                  <a:srgbClr val="EF45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05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72922" y="5180076"/>
            <a:ext cx="2318004" cy="587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pt-BR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Commit e push no GitHub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17697" y="4460443"/>
            <a:ext cx="2513686" cy="1476756"/>
          </a:xfrm>
          <a:prstGeom prst="rect">
            <a:avLst/>
          </a:prstGeom>
          <a:solidFill>
            <a:srgbClr val="FFFFFF">
              <a:alpha val="0"/>
            </a:srgbClr>
          </a:solidFill>
          <a:ln w="9525">
            <a:solidFill>
              <a:srgbClr val="4747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15538" y="4623206"/>
            <a:ext cx="2318004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3200" spc="-150" kern="0" dirty="0">
                <a:solidFill>
                  <a:srgbClr val="EF45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3615538" y="5180076"/>
            <a:ext cx="2318004" cy="5879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pt-BR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HTML local e link público no Lovable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03213" y="4723790"/>
            <a:ext cx="4601261" cy="91165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Ao final: gráficos prontos, prompts documentados e um dashboard publicado.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700784" y="829361"/>
            <a:ext cx="8789213" cy="17547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54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Passo a passo</a:t>
            </a:r>
            <a:endParaRPr lang="en-US" sz="5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29000"/>
            <a:ext cx="7220102" cy="3429000"/>
          </a:xfrm>
          <a:prstGeom prst="rect">
            <a:avLst/>
          </a:prstGeom>
          <a:solidFill>
            <a:srgbClr val="EF4517"/>
          </a:solidFill>
          <a:ln/>
        </p:spPr>
      </p:sp>
      <p:sp>
        <p:nvSpPr>
          <p:cNvPr id="3" name="Text 1"/>
          <p:cNvSpPr/>
          <p:nvPr/>
        </p:nvSpPr>
        <p:spPr>
          <a:xfrm>
            <a:off x="478231" y="4031590"/>
            <a:ext cx="2323490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4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360 mil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478231" y="5139842"/>
            <a:ext cx="3046781" cy="102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horas/ano de advogados e analistas de crédito na revisão de contratos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10051" y="3429000"/>
            <a:ext cx="0" cy="3429000"/>
          </a:xfrm>
          <a:prstGeom prst="line">
            <a:avLst/>
          </a:prstGeom>
          <a:noFill/>
          <a:ln w="9525">
            <a:solidFill>
              <a:srgbClr val="000000">
                <a:alpha val="28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1394" y="4031590"/>
            <a:ext cx="2361895" cy="9235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4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12 mil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841394" y="5139842"/>
            <a:ext cx="2682850" cy="102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novos contratos de crédito comercial por ano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03097" y="696773"/>
            <a:ext cx="10095890" cy="212323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66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Caso 1 · JPMorgan COiN</a:t>
            </a:r>
            <a:endParaRPr lang="en-US" sz="6600" dirty="0"/>
          </a:p>
        </p:txBody>
      </p:sp>
      <p:sp>
        <p:nvSpPr>
          <p:cNvPr id="9" name="Text 7"/>
          <p:cNvSpPr/>
          <p:nvPr/>
        </p:nvSpPr>
        <p:spPr>
          <a:xfrm>
            <a:off x="8099755" y="3785616"/>
            <a:ext cx="3289097" cy="13414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COiN (Contract Intelligence) usa machine learning para interpretar contratos de empréstimo em segundos, com menos erros.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099755" y="5573268"/>
            <a:ext cx="3153766" cy="7269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660400" dist="4572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099755" y="5752490"/>
            <a:ext cx="3153766" cy="369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1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Fonte: Bloomberg (2017)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0365638" y="-9144"/>
            <a:ext cx="929945" cy="929945"/>
          </a:xfrm>
          <a:prstGeom prst="rect">
            <a:avLst/>
          </a:prstGeom>
          <a:solidFill>
            <a:srgbClr val="474747"/>
          </a:solidFill>
          <a:ln/>
        </p:spPr>
      </p:sp>
      <p:sp>
        <p:nvSpPr>
          <p:cNvPr id="15" name="Shape 13"/>
          <p:cNvSpPr/>
          <p:nvPr/>
        </p:nvSpPr>
        <p:spPr>
          <a:xfrm>
            <a:off x="11295583" y="920801"/>
            <a:ext cx="929945" cy="929945"/>
          </a:xfrm>
          <a:prstGeom prst="rect">
            <a:avLst/>
          </a:prstGeom>
          <a:solidFill>
            <a:srgbClr val="474747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96000" y="3100000"/>
            <a:ext cx="7000000" cy="1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spcBef>
                <a:spcPts val="1200"/>
              </a:spcBef>
              <a:buNone/>
            </a:pPr>
            <a:r>
              <a:rPr lang="pt-BR" sz="1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Sua vez: pergunte sobre o passo a passo, os prompts ou como levar isso para o seu time.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6000" y="1250000"/>
            <a:ext cx="10000000" cy="1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88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Perguntas?</a:t>
            </a:r>
            <a:endParaRPr lang="en-US" sz="8800" dirty="0"/>
          </a:p>
        </p:txBody>
      </p:sp>
      <p:sp>
        <p:nvSpPr>
          <p:cNvPr id="4" name="Shape 2"/>
          <p:cNvSpPr/>
          <p:nvPr/>
        </p:nvSpPr>
        <p:spPr>
          <a:xfrm>
            <a:off x="4519117" y="4400000"/>
            <a:ext cx="3153766" cy="7269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660400" dist="4572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695596" y="4579223"/>
            <a:ext cx="2512771" cy="369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18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Sua vez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217512" y="4613970"/>
            <a:ext cx="300838" cy="300838"/>
          </a:xfrm>
          <a:prstGeom prst="ellipse">
            <a:avLst/>
          </a:prstGeom>
          <a:ln w="952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17512" y="4763931"/>
            <a:ext cx="21305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solid"/>
            <a:tailEnd type="arrow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23583" y="758952"/>
            <a:ext cx="5861304" cy="5385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34400" b="1" dirty="0">
                <a:ln w="41275">
                  <a:solidFill>
                    <a:srgbClr val="EF4517"/>
                  </a:solidFill>
                </a:ln>
                <a:solidFill>
                  <a:srgbClr val="EF45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 }</a:t>
            </a:r>
            <a:endParaRPr lang="en-US" sz="34400" dirty="0"/>
          </a:p>
        </p:txBody>
      </p:sp>
      <p:sp>
        <p:nvSpPr>
          <p:cNvPr id="3" name="Text 1"/>
          <p:cNvSpPr/>
          <p:nvPr/>
        </p:nvSpPr>
        <p:spPr>
          <a:xfrm>
            <a:off x="620878" y="3268980"/>
            <a:ext cx="6393485" cy="17547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54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Mão na massa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20878" y="5264201"/>
            <a:ext cx="6835140" cy="701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Ao vivo: do Excel financeiro a gráficos com prompts no Claude, um repositório no GitHub e um dashboard com link público.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607954" y="487375"/>
            <a:ext cx="1463040" cy="23042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pt-BR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Formato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607954" y="758038"/>
            <a:ext cx="1463040" cy="3694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pt-BR" sz="1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Ao vivo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607954" y="5394960"/>
            <a:ext cx="1463040" cy="23042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pt-BR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Entrega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607954" y="5665622"/>
            <a:ext cx="1463040" cy="36941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algn="l" indent="0" marL="0">
              <a:buNone/>
            </a:pPr>
            <a:r>
              <a:rPr lang="pt-BR" sz="18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Dashboard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0684" y="914400"/>
            <a:ext cx="2510028" cy="174193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57046" y="1105510"/>
            <a:ext cx="2197303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Ferramenta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7046" y="1531620"/>
            <a:ext cx="2197303" cy="852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pt-BR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Assistente interno com GPT-4, da OpenAI.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02513" y="2656332"/>
            <a:ext cx="2510028" cy="174193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7961" y="2847442"/>
            <a:ext cx="2197303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Processo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57961" y="3273552"/>
            <a:ext cx="2197303" cy="852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pt-BR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Assessores perguntam à base de pesquisa do banco.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12541" y="2656332"/>
            <a:ext cx="2510028" cy="1741932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7989" y="2847442"/>
            <a:ext cx="2197303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Controle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67989" y="3273552"/>
            <a:ext cx="2197303" cy="85222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pt-BR" sz="14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Respostas só do conteúdo interno, com link às fontes.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17082" y="2656332"/>
            <a:ext cx="2819095" cy="3708806"/>
          </a:xfrm>
          <a:prstGeom prst="rect">
            <a:avLst/>
          </a:prstGeom>
          <a:solidFill>
            <a:srgbClr val="EF4517"/>
          </a:solidFill>
          <a:ln/>
        </p:spPr>
      </p:sp>
      <p:sp>
        <p:nvSpPr>
          <p:cNvPr id="12" name="Text 10"/>
          <p:cNvSpPr/>
          <p:nvPr/>
        </p:nvSpPr>
        <p:spPr>
          <a:xfrm>
            <a:off x="6152083" y="2847442"/>
            <a:ext cx="2507285" cy="42611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Resultado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152083" y="3273552"/>
            <a:ext cx="2507285" cy="13697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pt-BR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Conteúdo e análises nas mãos dos assessores em segundos, segundo o banco.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52083" y="5567782"/>
            <a:ext cx="2168042" cy="369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Anúncio </a:t>
            </a:r>
            <a:r>
              <a:rPr lang="pt-BR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mar/2023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934249" y="4776826"/>
            <a:ext cx="3153766" cy="72694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  <a:effectLst>
            <a:outerShdw sx="100000" sy="100000" kx="0" ky="0" algn="bl" rotWithShape="0" blurRad="660400" dist="457200" dir="810000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934249" y="4956048"/>
            <a:ext cx="3153766" cy="3694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Fonte: Morgan Stanley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6112" y="4864608"/>
            <a:ext cx="4532681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spcBef>
                <a:spcPts val="1200"/>
              </a:spcBef>
              <a:buNone/>
            </a:pPr>
            <a:r>
              <a:rPr lang="pt-BR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banco foi uma das organizações de lançamento do GPT-4 e, na época, o único cliente estratégico da OpenAI em gestão de patrimônio.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740810" y="870509"/>
            <a:ext cx="6624828" cy="1446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44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Caso 2 · Morgan Stanley</a:t>
            </a:r>
            <a:endParaRPr lang="en-US" sz="4400" dirty="0"/>
          </a:p>
        </p:txBody>
      </p:sp>
      <p:sp>
        <p:nvSpPr>
          <p:cNvPr id="21" name="Shape 19"/>
          <p:cNvSpPr/>
          <p:nvPr/>
        </p:nvSpPr>
        <p:spPr>
          <a:xfrm>
            <a:off x="10365638" y="-9144"/>
            <a:ext cx="929945" cy="929945"/>
          </a:xfrm>
          <a:prstGeom prst="rect">
            <a:avLst/>
          </a:prstGeom>
          <a:solidFill>
            <a:srgbClr val="474747"/>
          </a:solidFill>
          <a:ln/>
        </p:spPr>
      </p:sp>
      <p:sp>
        <p:nvSpPr>
          <p:cNvPr id="22" name="Shape 20"/>
          <p:cNvSpPr/>
          <p:nvPr/>
        </p:nvSpPr>
        <p:spPr>
          <a:xfrm>
            <a:off x="11295583" y="920801"/>
            <a:ext cx="929945" cy="929945"/>
          </a:xfrm>
          <a:prstGeom prst="rect">
            <a:avLst/>
          </a:prstGeom>
          <a:solidFill>
            <a:srgbClr val="474747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463394" y="2422246"/>
            <a:ext cx="1523390" cy="1523390"/>
          </a:xfrm>
          <a:prstGeom prst="ellipse">
            <a:avLst/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63394" y="2422246"/>
            <a:ext cx="1523390" cy="1523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Perceber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377233" y="2422246"/>
            <a:ext cx="1523390" cy="1523390"/>
          </a:xfrm>
          <a:prstGeom prst="ellipse">
            <a:avLst/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377233" y="2422246"/>
            <a:ext cx="1523390" cy="1523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Planejar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142939" y="2274113"/>
            <a:ext cx="1818742" cy="1818742"/>
          </a:xfrm>
          <a:prstGeom prst="ellipse">
            <a:avLst/>
          </a:prstGeom>
          <a:solidFill>
            <a:srgbClr val="EA6344"/>
          </a:solidFill>
          <a:ln/>
          <a:effectLst>
            <a:outerShdw sx="100000" sy="100000" kx="0" ky="0" algn="bl" rotWithShape="0" blurRad="381000" dist="152400" dir="5400000">
              <a:srgbClr val="EA6344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142939" y="2274113"/>
            <a:ext cx="1818742" cy="18187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pt-BR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Executar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03997" y="2422246"/>
            <a:ext cx="1523390" cy="1523390"/>
          </a:xfrm>
          <a:prstGeom prst="ellipse">
            <a:avLst/>
          </a:prstGeom>
          <a:ln w="9525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03997" y="2422246"/>
            <a:ext cx="1523390" cy="15233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pt-BR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Verificar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926994" y="4679899"/>
            <a:ext cx="6337706" cy="0"/>
          </a:xfrm>
          <a:prstGeom prst="line">
            <a:avLst/>
          </a:prstGeom>
          <a:noFill/>
          <a:ln w="9525">
            <a:solidFill>
              <a:srgbClr val="FFFFFF">
                <a:alpha val="44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4171" y="5118811"/>
            <a:ext cx="7622438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spcBef>
                <a:spcPts val="1200"/>
              </a:spcBef>
              <a:buNone/>
            </a:pPr>
            <a:r>
              <a:rPr lang="pt-BR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Exemplo na conciliação: o agente lê o extrato bancário (perceber), decide quais lançamentos casar (planejar), registra no ERP (executar) e confere os saldos antes de pedir sua aprovação (verificar).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136038" y="554126"/>
            <a:ext cx="7920533" cy="144658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44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Agentes: a IA que executa tarefas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10365638" y="-9144"/>
            <a:ext cx="929945" cy="929945"/>
          </a:xfrm>
          <a:prstGeom prst="rect">
            <a:avLst/>
          </a:prstGeom>
          <a:solidFill>
            <a:srgbClr val="474747"/>
          </a:solidFill>
          <a:ln/>
        </p:spPr>
      </p:sp>
      <p:sp>
        <p:nvSpPr>
          <p:cNvPr id="14" name="Shape 12"/>
          <p:cNvSpPr/>
          <p:nvPr/>
        </p:nvSpPr>
        <p:spPr>
          <a:xfrm>
            <a:off x="11295583" y="920801"/>
            <a:ext cx="929945" cy="929945"/>
          </a:xfrm>
          <a:prstGeom prst="rect">
            <a:avLst/>
          </a:prstGeom>
          <a:solidFill>
            <a:srgbClr val="474747"/>
          </a:solidFill>
          <a:ln/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62395" y="0"/>
            <a:ext cx="58293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41300" dist="190500" dir="8100000">
              <a:srgbClr val="000000">
                <a:alpha val="12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911950" y="758952"/>
            <a:ext cx="1491386" cy="9235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pt-BR" sz="2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Previsão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610905" y="766267"/>
            <a:ext cx="3009290" cy="9089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400" dirty="0">
                <a:solidFill>
                  <a:srgbClr val="4747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Aprende com o histórico para </a:t>
            </a:r>
            <a:r>
              <a:rPr lang="pt-BR" sz="1400" b="1" u="sng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projetar receita, caixa e demanda.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362395" y="2299716"/>
            <a:ext cx="5829300" cy="2286000"/>
          </a:xfrm>
          <a:prstGeom prst="rect">
            <a:avLst/>
          </a:prstGeom>
          <a:solidFill>
            <a:srgbClr val="EF4517"/>
          </a:solidFill>
          <a:ln/>
          <a:effectLst>
            <a:outerShdw sx="100000" sy="100000" kx="0" ky="0" algn="bl" rotWithShape="0" blurRad="241300" dist="1905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911950" y="2916936"/>
            <a:ext cx="1491386" cy="9235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pt-BR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Risco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610905" y="2924251"/>
            <a:ext cx="3009290" cy="9089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Estima a chance de inadimplência </a:t>
            </a:r>
            <a:r>
              <a:rPr lang="pt-BR" sz="1400" b="1" u="sng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para apoiar a concessão de crédito.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62395" y="4572000"/>
            <a:ext cx="58293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41300" dist="1905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911950" y="5189220"/>
            <a:ext cx="1491386" cy="923544"/>
          </a:xfrm>
          <a:prstGeom prst="rect">
            <a:avLst/>
          </a:prstGeom>
          <a:noFill/>
          <a:ln/>
        </p:spPr>
        <p:txBody>
          <a:bodyPr wrap="none" rtlCol="0" anchor="ctr"/>
          <a:lstStyle/>
          <a:p>
            <a:pPr algn="l" indent="0" marL="0">
              <a:buNone/>
            </a:pPr>
            <a:r>
              <a:rPr lang="pt-BR" sz="2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Fraude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610905" y="5196535"/>
            <a:ext cx="3009290" cy="9089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400" dirty="0">
                <a:solidFill>
                  <a:srgbClr val="47474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Sinaliza transações fora do padrão </a:t>
            </a:r>
            <a:r>
              <a:rPr lang="pt-BR" sz="1400" b="1" u="sng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para revisão humana.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38505" y="2072945"/>
            <a:ext cx="5049317" cy="258500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54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Machine learning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38505" y="4836262"/>
            <a:ext cx="4526280" cy="102138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 vez de regras escritas à mão, o modelo encontra padrões nos dados históricos.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38505" y="736092"/>
            <a:ext cx="3765499" cy="110825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6600" b="1" dirty="0">
                <a:solidFill>
                  <a:srgbClr val="FFFFFF">
                    <a:alpha val="20000"/>
                  </a:srgbClr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6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42793" y="618134"/>
            <a:ext cx="7491679" cy="17547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 que vamos ver hoje</a:t>
            </a:r>
            <a:endParaRPr lang="en-US" sz="5400" dirty="0"/>
          </a:p>
        </p:txBody>
      </p:sp>
      <p:sp>
        <p:nvSpPr>
          <p:cNvPr id="3" name="Shape 1"/>
          <p:cNvSpPr/>
          <p:nvPr/>
        </p:nvSpPr>
        <p:spPr>
          <a:xfrm>
            <a:off x="1647749" y="3231490"/>
            <a:ext cx="2057400" cy="2619756"/>
          </a:xfrm>
          <a:prstGeom prst="roundRect">
            <a:avLst>
              <a:gd name="adj" fmla="val 6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190500" dir="81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142793" y="3405226"/>
            <a:ext cx="486461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dirty="0">
                <a:solidFill>
                  <a:srgbClr val="C0C0C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09598" y="4347972"/>
            <a:ext cx="1733702" cy="386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Evolução da IA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09598" y="4705502"/>
            <a:ext cx="1733702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45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Contexto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809598" y="5102352"/>
            <a:ext cx="1733702" cy="5550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080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Das regras aos agentes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026103" y="3231490"/>
            <a:ext cx="2057400" cy="2619756"/>
          </a:xfrm>
          <a:prstGeom prst="roundRect">
            <a:avLst>
              <a:gd name="adj" fmla="val 6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1905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521147" y="3405226"/>
            <a:ext cx="486461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dirty="0">
                <a:solidFill>
                  <a:srgbClr val="C0C0C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87952" y="4347972"/>
            <a:ext cx="1733702" cy="386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Casos reais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87952" y="4705502"/>
            <a:ext cx="1733702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45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Mercado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87952" y="5102352"/>
            <a:ext cx="1733702" cy="5550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080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Como empresas usam IA em finanças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21547" y="3231490"/>
            <a:ext cx="2057400" cy="2619756"/>
          </a:xfrm>
          <a:prstGeom prst="roundRect">
            <a:avLst>
              <a:gd name="adj" fmla="val 69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1905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216591" y="3405226"/>
            <a:ext cx="486461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1600" dirty="0">
                <a:solidFill>
                  <a:srgbClr val="C0C0C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883396" y="4347972"/>
            <a:ext cx="1733702" cy="38679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Perguntas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883396" y="4705502"/>
            <a:ext cx="1733702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45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final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83396" y="5102352"/>
            <a:ext cx="1733702" cy="55504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0808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Suas dúvidas ao fim da sessão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3628" y="1719986"/>
            <a:ext cx="0" cy="833933"/>
          </a:xfrm>
          <a:prstGeom prst="line">
            <a:avLst/>
          </a:prstGeom>
          <a:noFill/>
          <a:ln w="12700">
            <a:solidFill>
              <a:srgbClr val="D9D9D9"/>
            </a:solidFill>
            <a:prstDash val="dash"/>
            <a:headEnd type="oval"/>
          </a:ln>
        </p:spPr>
      </p:sp>
      <p:sp>
        <p:nvSpPr>
          <p:cNvPr id="19" name="Text 17"/>
          <p:cNvSpPr/>
          <p:nvPr/>
        </p:nvSpPr>
        <p:spPr>
          <a:xfrm>
            <a:off x="8617306" y="1552651"/>
            <a:ext cx="1895551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F4517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1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Parte prática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6403543" y="2600554"/>
            <a:ext cx="2057400" cy="3250692"/>
          </a:xfrm>
          <a:prstGeom prst="roundRect">
            <a:avLst>
              <a:gd name="adj" fmla="val 6900"/>
            </a:avLst>
          </a:prstGeom>
          <a:solidFill>
            <a:srgbClr val="EF4517"/>
          </a:solidFill>
          <a:ln/>
          <a:effectLst>
            <a:outerShdw sx="100000" sy="100000" kx="0" ky="0" algn="bl" rotWithShape="0" blurRad="152400" dist="190500" dir="8100000">
              <a:srgbClr val="000000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66306" y="3742639"/>
            <a:ext cx="1733702" cy="42336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Mão na massa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66306" y="4124858"/>
            <a:ext cx="1733702" cy="34930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Na prática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66306" y="4609490"/>
            <a:ext cx="1895551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 Excel e repositório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66306" y="4963363"/>
            <a:ext cx="1895551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 Prompts e GitHub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66306" y="5317236"/>
            <a:ext cx="1895551" cy="2770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- HTML e Lovable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365638" y="-9144"/>
            <a:ext cx="929945" cy="929945"/>
          </a:xfrm>
          <a:prstGeom prst="rect">
            <a:avLst/>
          </a:prstGeom>
          <a:solidFill>
            <a:srgbClr val="474747"/>
          </a:solidFill>
          <a:ln/>
        </p:spPr>
      </p:sp>
      <p:sp>
        <p:nvSpPr>
          <p:cNvPr id="27" name="Shape 25"/>
          <p:cNvSpPr/>
          <p:nvPr/>
        </p:nvSpPr>
        <p:spPr>
          <a:xfrm>
            <a:off x="11295583" y="920801"/>
            <a:ext cx="929945" cy="929945"/>
          </a:xfrm>
          <a:prstGeom prst="rect">
            <a:avLst/>
          </a:prstGeom>
          <a:solidFill>
            <a:srgbClr val="474747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8311" y="1798625"/>
            <a:ext cx="9955073" cy="4395521"/>
          </a:xfrm>
          <a:prstGeom prst="roundRect">
            <a:avLst>
              <a:gd name="adj" fmla="val 514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60400" dist="457200" dir="8100000">
              <a:srgbClr val="000000">
                <a:alpha val="20000"/>
              </a:srgbClr>
            </a:outerShdw>
          </a:effectLst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46911" y="1794967"/>
          <a:ext cx="9497873" cy="4232758"/>
        </p:xfrm>
        <a:graphic>
          <a:graphicData uri="http://schemas.openxmlformats.org/drawingml/2006/table">
            <a:tbl>
              <a:tblPr/>
              <a:tblGrid>
                <a:gridCol w="2279489"/>
                <a:gridCol w="2469446"/>
                <a:gridCol w="4748938"/>
              </a:tblGrid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400" dirty="0" b="1">
                          <a:solidFill>
                            <a:srgbClr val="FFFFFF"/>
                          </a:solidFill>
                          <a:latin typeface="Plus Jakarta Sans" charset="0"/>
                          <a:ea typeface="Plus Jakarta Sans" charset="0"/>
                          <a:cs typeface="Plus Jakarta Sans" charset="0"/>
                        </a:rPr>
                        <a:t>Aba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4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400" dirty="0" b="1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Tipo de gráfico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451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400" dirty="0" b="1">
                          <a:solidFill>
                            <a:srgbClr val="FFFFFF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Quando usar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F4517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 b="1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01 Colunas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Colunas verticais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Comparar valores entre categorias (ex.: receita por regional)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 b="1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02 Barras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Barras horizontais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Ranquear itens, como as despesas que mais pesam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 b="1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06 Linhas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Linhas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Acompanhar a evolução no tempo (ex.: saldo de caixa)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 b="1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11 Bolhas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Bolhas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Cruzar três medidas: receita, margem e equipe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 b="1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14 Cascata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Cascata (ponte)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Explicar a variação do EBITDA de um ano para o outro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 b="1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15 Gantt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Cronograma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Ver etapas e prazos do fechamento mensal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 b="1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18 Mapa de calor</a:t>
                      </a:r>
                      <a:endParaRPr lang="en-US" sz="14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Matriz colorida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Achar concentração e sazonalidade da receita</a:t>
                      </a:r>
                      <a:endParaRPr lang="en-US" sz="105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b="1" dirty="0">
                          <a:solidFill>
                            <a:srgbClr val="000000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19 Pareto</a:t>
                      </a:r>
                      <a:endParaRPr lang="en-US" sz="16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Colunas + % acumulado</a:t>
                      </a:r>
                      <a:endParaRPr lang="en-US" sz="12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pt-BR" sz="1200" dirty="0">
                          <a:solidFill>
                            <a:srgbClr val="474747"/>
                          </a:solidFill>
                          <a:latin typeface="Plus Jakarta Sans" pitchFamily="34" charset="0"/>
                          <a:ea typeface="Plus Jakarta Sans" pitchFamily="34" charset="-122"/>
                          <a:cs typeface="Plus Jakarta Sans" pitchFamily="34" charset="-120"/>
                        </a:rPr>
                        <a:t>Mostrar os poucos motivos que explicam a maior parte</a:t>
                      </a:r>
                      <a:endParaRPr lang="en-US" sz="1200" dirty="0">
                        <a:latin typeface="Plus Jakarta Sans" charset="0"/>
                        <a:ea typeface="Plus Jakarta Sans" charset="0"/>
                        <a:cs typeface="Plus Jakarta Sans" charset="0"/>
                      </a:endParaRPr>
                    </a:p>
                  </a:txBody>
                  <a:tcPr marL="182880" marR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593799" y="663854"/>
            <a:ext cx="9004097" cy="83119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40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Prévia do Excel: 20 abas de gráficos</a:t>
            </a:r>
            <a:endParaRPr lang="en-US" sz="4800" dirty="0"/>
          </a:p>
        </p:txBody>
      </p:sp>
      <p:sp>
        <p:nvSpPr>
          <p:cNvPr id="23" name="Caption"/>
          <p:cNvSpPr/>
          <p:nvPr/>
        </p:nvSpPr>
        <p:spPr>
          <a:xfrm>
            <a:off x="1593799" y="6291072"/>
            <a:ext cx="9004097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pt-BR" sz="1400" kern="0" dirty="0">
                <a:solidFill>
                  <a:srgbClr val="C6C6C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Dados fictícios · planilha e prompts disponíveis após o webinar</a:t>
            </a:r>
            <a:endParaRPr lang="en-US" sz="4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305" y="0"/>
            <a:ext cx="609630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444752" y="315468"/>
            <a:ext cx="3323844" cy="3323844"/>
          </a:xfrm>
          <a:prstGeom prst="ellipse">
            <a:avLst/>
          </a:prstGeom>
          <a:ln w="9525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988820" y="859536"/>
            <a:ext cx="2234794" cy="2234794"/>
          </a:xfrm>
          <a:prstGeom prst="ellipse">
            <a:avLst/>
          </a:prstGeom>
          <a:solidFill>
            <a:srgbClr val="EF4517"/>
          </a:solidFill>
          <a:ln/>
        </p:spPr>
      </p:sp>
      <p:sp>
        <p:nvSpPr>
          <p:cNvPr id="5" name="Text 3"/>
          <p:cNvSpPr/>
          <p:nvPr/>
        </p:nvSpPr>
        <p:spPr>
          <a:xfrm>
            <a:off x="1988820" y="859536"/>
            <a:ext cx="2234794" cy="2234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pt-BR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IA GENERATIVA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59790" y="1574597"/>
            <a:ext cx="769925" cy="769925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41300" dist="1905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07592" y="1666037"/>
            <a:ext cx="274320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82719" y="1574597"/>
            <a:ext cx="769925" cy="769925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241300" dist="1905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30522" y="1666037"/>
            <a:ext cx="274320" cy="29260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00977" y="1030529"/>
            <a:ext cx="685800" cy="685800"/>
          </a:xfrm>
          <a:prstGeom prst="roundRect">
            <a:avLst>
              <a:gd name="adj" fmla="val 15500"/>
            </a:avLst>
          </a:prstGeom>
          <a:solidFill>
            <a:srgbClr val="000000"/>
          </a:solidFill>
          <a:ln/>
          <a:effectLst>
            <a:outerShdw sx="100000" sy="100000" kx="0" ky="0" algn="bl" rotWithShape="0" blurRad="241300" dist="1905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62572" y="1173175"/>
            <a:ext cx="761695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01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779715" y="1143000"/>
            <a:ext cx="3010205" cy="46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2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Escrita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779715" y="1622146"/>
            <a:ext cx="3353105" cy="7891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2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Rascunhos de relatórios, e-mails e comentários de resultado a partir dos números.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900977" y="2820010"/>
            <a:ext cx="685800" cy="685800"/>
          </a:xfrm>
          <a:prstGeom prst="roundRect">
            <a:avLst>
              <a:gd name="adj" fmla="val 15500"/>
            </a:avLst>
          </a:prstGeom>
          <a:solidFill>
            <a:srgbClr val="EF4517"/>
          </a:solidFill>
          <a:ln/>
          <a:effectLst>
            <a:outerShdw sx="100000" sy="100000" kx="0" ky="0" algn="bl" rotWithShape="0" blurRad="241300" dist="1905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862572" y="2962656"/>
            <a:ext cx="761695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9715" y="2932481"/>
            <a:ext cx="3010205" cy="46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2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Análise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779715" y="3411626"/>
            <a:ext cx="3353105" cy="7891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2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Leitura de contratos, demonstrativos e planilhas com perguntas em linguagem natural.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0977" y="4609490"/>
            <a:ext cx="685800" cy="685800"/>
          </a:xfrm>
          <a:prstGeom prst="roundRect">
            <a:avLst>
              <a:gd name="adj" fmla="val 15500"/>
            </a:avLst>
          </a:prstGeom>
          <a:solidFill>
            <a:srgbClr val="F77D61"/>
          </a:solidFill>
          <a:ln/>
          <a:effectLst>
            <a:outerShdw sx="100000" sy="100000" kx="0" ky="0" algn="bl" rotWithShape="0" blurRad="241300" dist="1905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62572" y="4752137"/>
            <a:ext cx="761695" cy="4005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779715" y="4721962"/>
            <a:ext cx="3010205" cy="4617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2400" b="1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Código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779715" y="5201107"/>
            <a:ext cx="3353105" cy="78912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200" dirty="0">
                <a:solidFill>
                  <a:srgbClr val="00000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Fórmulas, SQL, Python e HTML gerados a partir de uma descrição em português.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4497" y="3783787"/>
            <a:ext cx="5206594" cy="15700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pt-BR" sz="4800" spc="-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IA generativa e LLMs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774497" y="5352898"/>
            <a:ext cx="4561027" cy="7013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pt-BR" sz="1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ChatGPT (2022) e Claude: modelos que entendem e geram linguagem.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FOs.AI">
      <a:dk1>
        <a:sysClr val="windowText" lastClr="000000"/>
      </a:dk1>
      <a:lt1>
        <a:sysClr val="window" lastClr="FFFFFF"/>
      </a:lt1>
      <a:dk2>
        <a:srgbClr val="474747"/>
      </a:dk2>
      <a:lt2>
        <a:srgbClr val="F2F2F2"/>
      </a:lt2>
      <a:accent1>
        <a:srgbClr val="EF4517"/>
      </a:accent1>
      <a:accent2>
        <a:srgbClr val="000000"/>
      </a:accent2>
      <a:accent3>
        <a:srgbClr val="474747"/>
      </a:accent3>
      <a:accent4>
        <a:srgbClr val="F77D61"/>
      </a:accent4>
      <a:accent5>
        <a:srgbClr val="C6C6C6"/>
      </a:accent5>
      <a:accent6>
        <a:srgbClr val="EA6344"/>
      </a:accent6>
      <a:hlink>
        <a:srgbClr val="EF4517"/>
      </a:hlink>
      <a:folHlink>
        <a:srgbClr val="474747"/>
      </a:folHlink>
    </a:clrScheme>
    <a:fontScheme name="Office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Dashboards financeiros com GitHub e IA</dc:title>
  <dc:subject>PptxGenJS Presentation</dc:subject>
  <dc:creator>PptxGenJS</dc:creator>
  <cp:lastModifiedBy>PptxGenJS</cp:lastModifiedBy>
  <cp:revision>1</cp:revision>
  <dcterms:created xsi:type="dcterms:W3CDTF">2026-10-22T20:17:58Z</dcterms:created>
  <dcterms:modified xsi:type="dcterms:W3CDTF">2026-10-22T20:17:58Z</dcterms:modified>
</cp:coreProperties>
</file>